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AndroidControl — the dataset our UI agent learns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15K real human-recorded episodes on Android, multi-step UI workflows.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691640"/>
            <a:ext cx="6766560" cy="7315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64792"/>
            <a:ext cx="6766560" cy="459028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94560"/>
            <a:ext cx="62179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Real humans completing real tasks on real Android phones.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788920"/>
            <a:ext cx="18288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9669"/>
                </a:solidFill>
                <a:latin typeface="Calibri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770632"/>
            <a:ext cx="5989320" cy="777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Each example is one timestep: (screenshot, the human's next action, what the human was trying to do).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8288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9669"/>
                </a:solidFill>
                <a:latin typeface="Calibri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547872"/>
            <a:ext cx="5989320" cy="777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Episodes group steps into full task demonstrations — open app, click, type, scroll, finish.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43400"/>
            <a:ext cx="18288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9669"/>
                </a:solidFill>
                <a:latin typeface="Calibri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25112"/>
            <a:ext cx="5989320" cy="777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Action vocabulary covers everything a user does on a phone: click · scroll · type · long-press · open-app · navigate-back · navigate-home · wait · status.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120640"/>
            <a:ext cx="18288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9669"/>
                </a:solidFill>
                <a:latin typeface="Calibri"/>
              </a:rPr>
              <a:t>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102352"/>
            <a:ext cx="5989320" cy="7772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Released by Google Research with the paper "On the Effects of Data Scale on Computer Control Agents" (Li et al., 2024).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691640"/>
            <a:ext cx="405353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589520" y="1764792"/>
            <a:ext cx="4053535" cy="292608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0" y="1874520"/>
            <a:ext cx="3504895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AT A GLANCE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286000"/>
            <a:ext cx="16459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15,283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2377440"/>
            <a:ext cx="1676095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labeled episodes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2743200"/>
            <a:ext cx="16459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83,389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834640"/>
            <a:ext cx="1676095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labeled timesteps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3200400"/>
            <a:ext cx="16459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833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291840"/>
            <a:ext cx="1676095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distinct Android apps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657600"/>
            <a:ext cx="16459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749040"/>
            <a:ext cx="1676095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action types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63840" y="4114800"/>
            <a:ext cx="16459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~6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92640" y="4206240"/>
            <a:ext cx="1676095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median steps per episode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0" y="4846320"/>
            <a:ext cx="4053535" cy="7315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589520" y="4919472"/>
            <a:ext cx="4053535" cy="143560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63840" y="5029200"/>
            <a:ext cx="3504895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SOURCE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5349240"/>
            <a:ext cx="3504895" cy="8686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Original:  google-research/android_control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HF mirror used here:</a:t>
            </a:r>
          </a:p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ckg/AndroidControlParsedWithImages-20k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License:  Apache-2.0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Same imitation-learning paradigm as the self-driving-car ACT — different action space, more action types.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What one timestep looks like — and how timesteps chain into an episode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Constant intent + observation sequence + action sequence — same shape as the self-driving-car ACT.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691640"/>
            <a:ext cx="2567178" cy="201168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OBSERVATION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Screenshot at this step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1080 × 2400 typical Android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90138" y="1691640"/>
            <a:ext cx="2567178" cy="201168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INSTRUCTION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User's natural-language goal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constant across the episode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1636" y="1691640"/>
            <a:ext cx="2567178" cy="201168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PREV_ACTIONS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Serialized history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of actions taken so far in this episode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73134" y="1691640"/>
            <a:ext cx="2567178" cy="2011680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EA580C"/>
                </a:solidFill>
                <a:latin typeface="Calibri"/>
              </a:rPr>
              <a:t>ACTION (label)</a:t>
            </a:r>
          </a:p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{type, params}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e.g.  click(x=0.50, y=0.09)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5847" y="3794760"/>
            <a:ext cx="0" cy="411480"/>
          </a:xfrm>
          <a:prstGeom prst="line">
            <a:avLst/>
          </a:prstGeom>
          <a:ln w="1651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434340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EPISODE  =  SEQUENCE OF TIMESTEPS  ·  CONSTANT INTENT, STATE EVOLVES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709160"/>
            <a:ext cx="1696212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t=0</a:t>
            </a:r>
          </a:p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open_app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27732" y="4709160"/>
            <a:ext cx="1696212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t=1</a:t>
            </a:r>
          </a:p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click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06824" y="4709160"/>
            <a:ext cx="1696212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t=2</a:t>
            </a:r>
          </a:p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input_text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5916" y="4709160"/>
            <a:ext cx="1696212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t=3</a:t>
            </a:r>
          </a:p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click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4709160"/>
            <a:ext cx="1696212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t=4</a:t>
            </a:r>
          </a:p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wait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44100" y="4709160"/>
            <a:ext cx="1696212" cy="6858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t=5</a:t>
            </a:r>
          </a:p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623560"/>
            <a:ext cx="11091672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Calibri"/>
              </a:rPr>
              <a:t>Same instruction string is repeated at every timestep.  Previous-actions history grows.  Observation is whatever the screen looks like at that moment.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03504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Multi-step BC — exactly the protocol the self-driving-car ACT used, just with a richer action space.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One real training example — full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Episode 19611 from the AndroidControl test set.  6 steps, real human, real screens.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691640"/>
            <a:ext cx="11091672" cy="77724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EPISODE-LEVEL INTENT</a:t>
            </a:r>
          </a:p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"I want to search for a wooden bed on the Houzz app since I need a wooden bed for my bedroom."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777240" cy="457200"/>
          </a:xfrm>
          <a:prstGeom prst="roundRect">
            <a:avLst>
              <a:gd name="adj" fmla="val 0"/>
            </a:avLst>
          </a:prstGeom>
          <a:solidFill>
            <a:srgbClr val="0F172A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STEP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697480"/>
            <a:ext cx="1828800" cy="457200"/>
          </a:xfrm>
          <a:prstGeom prst="roundRect">
            <a:avLst>
              <a:gd name="adj" fmla="val 0"/>
            </a:avLst>
          </a:prstGeom>
          <a:solidFill>
            <a:srgbClr val="0F172A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ACTION_TYPE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2697480"/>
            <a:ext cx="2286000" cy="457200"/>
          </a:xfrm>
          <a:prstGeom prst="roundRect">
            <a:avLst>
              <a:gd name="adj" fmla="val 0"/>
            </a:avLst>
          </a:prstGeom>
          <a:solidFill>
            <a:srgbClr val="0F172A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PARAMS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697480"/>
            <a:ext cx="6199632" cy="457200"/>
          </a:xfrm>
          <a:prstGeom prst="roundRect">
            <a:avLst>
              <a:gd name="adj" fmla="val 0"/>
            </a:avLst>
          </a:prstGeom>
          <a:solidFill>
            <a:srgbClr val="0F172A"/>
          </a:solidFill>
          <a:ln w="6350">
            <a:solidFill>
              <a:srgbClr val="0F17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WHAT IT ACCOMPLISHES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154680"/>
            <a:ext cx="777240" cy="4572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3154680"/>
            <a:ext cx="1828800" cy="4572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open_app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54680" y="3154680"/>
            <a:ext cx="2286000" cy="4572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Houzz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154680"/>
            <a:ext cx="6199632" cy="4572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Launch the Houzz home-design app from the launcher.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611880"/>
            <a:ext cx="777240" cy="45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3611880"/>
            <a:ext cx="1828800" cy="45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click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3611880"/>
            <a:ext cx="2286000" cy="45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(0.504, 0.089)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40680" y="3611880"/>
            <a:ext cx="6199632" cy="45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Tap the search bar in the top header.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069080"/>
            <a:ext cx="777240" cy="4572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25880" y="4069080"/>
            <a:ext cx="1828800" cy="4572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input_text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54680" y="4069080"/>
            <a:ext cx="2286000" cy="4572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"wooden bed"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4069080"/>
            <a:ext cx="6199632" cy="4572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Type the query into the focused search field.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526280"/>
            <a:ext cx="777240" cy="45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4526280"/>
            <a:ext cx="1828800" cy="45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click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154680" y="4526280"/>
            <a:ext cx="2286000" cy="45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(0.920, 0.899)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40680" y="4526280"/>
            <a:ext cx="6199632" cy="45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Tap the keyboard "Go / Search" button.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983480"/>
            <a:ext cx="777240" cy="4572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25880" y="4983480"/>
            <a:ext cx="1828800" cy="4572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wait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80" y="4983480"/>
            <a:ext cx="2286000" cy="4572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40680" y="4983480"/>
            <a:ext cx="6199632" cy="45720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Pause while the results screen loads.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440680"/>
            <a:ext cx="777240" cy="45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25880" y="5440680"/>
            <a:ext cx="1828800" cy="45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Calibri"/>
              </a:rPr>
              <a:t>status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154680" y="5440680"/>
            <a:ext cx="2286000" cy="45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successful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40680" y="5440680"/>
            <a:ext cx="6199632" cy="4572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Episode terminator — task completed.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Each row above is one (image, instruction, prev_actions, action) tuple the model sees during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ACT-large architecture — vision + intent + previous actions  → 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Same skeleton as the self-driving-car ACT, scaled up for the UI action space.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32307" y="16916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Input Vision Module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Screenshot  224 × 224 × 3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DinoV2-base  (frozen, 87 M)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256 spatial tokens · D = 384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16916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Input Intent Module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Natural-language goal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MiniLM-L6  (frozen, 22 M)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1 intent token · D = 384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38947" y="169164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905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Previous Actions Module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Serialized action history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MiniLM-L6  (frozen, 22 M)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1 prev token · D = 384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307" y="3337560"/>
            <a:ext cx="10927080" cy="8686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9050">
            <a:solidFill>
              <a:srgbClr val="2D4F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Transformer Encoder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Self-attention over 258 tokens  (256 spatial  +  1 intent  +  1 prev)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4 layers · 6 heads · D = 384 · FFN = 768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307" y="4434840"/>
            <a:ext cx="10927080" cy="868680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Transformer Decoder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1 learned action query  ·  cross-attention to encoder memory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2 layers · 6 heads · D = 384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92427" y="5532120"/>
            <a:ext cx="2880360" cy="822960"/>
          </a:xfrm>
          <a:prstGeom prst="roundRect">
            <a:avLst>
              <a:gd name="adj" fmla="val 6000"/>
            </a:avLst>
          </a:prstGeom>
          <a:solidFill>
            <a:srgbClr val="FEE4C7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type_head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Linear → 9  (softmax)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action_type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55667" y="5532120"/>
            <a:ext cx="2880360" cy="822960"/>
          </a:xfrm>
          <a:prstGeom prst="roundRect">
            <a:avLst>
              <a:gd name="adj" fmla="val 6000"/>
            </a:avLst>
          </a:prstGeom>
          <a:solidFill>
            <a:srgbClr val="FEE4C7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xy_head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Linear → 2  (sigmoid)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(x, y) ∈ [0, 1]²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18907" y="5532120"/>
            <a:ext cx="2880360" cy="822960"/>
          </a:xfrm>
          <a:prstGeom prst="roundRect">
            <a:avLst>
              <a:gd name="adj" fmla="val 6000"/>
            </a:avLst>
          </a:prstGeom>
          <a:solidFill>
            <a:srgbClr val="FEE4C7"/>
          </a:solidFill>
          <a:ln w="1905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dir_head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Linear → 4  (softmax)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scroll direction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92527" y="3063240"/>
            <a:ext cx="0" cy="256032"/>
          </a:xfrm>
          <a:prstGeom prst="line">
            <a:avLst/>
          </a:prstGeom>
          <a:ln w="1651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095847" y="3063240"/>
            <a:ext cx="0" cy="256032"/>
          </a:xfrm>
          <a:prstGeom prst="line">
            <a:avLst/>
          </a:prstGeom>
          <a:ln w="1651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799167" y="3063240"/>
            <a:ext cx="0" cy="256032"/>
          </a:xfrm>
          <a:prstGeom prst="line">
            <a:avLst/>
          </a:prstGeom>
          <a:ln w="1651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95847" y="4206240"/>
            <a:ext cx="0" cy="210312"/>
          </a:xfrm>
          <a:prstGeom prst="line">
            <a:avLst/>
          </a:prstGeom>
          <a:ln w="1651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32607" y="5303520"/>
            <a:ext cx="0" cy="210312"/>
          </a:xfrm>
          <a:prstGeom prst="line">
            <a:avLst/>
          </a:prstGeom>
          <a:ln w="1651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95847" y="5303520"/>
            <a:ext cx="0" cy="210312"/>
          </a:xfrm>
          <a:prstGeom prst="line">
            <a:avLst/>
          </a:prstGeom>
          <a:ln w="1651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59087" y="5303520"/>
            <a:ext cx="0" cy="210312"/>
          </a:xfrm>
          <a:prstGeom prst="line">
            <a:avLst/>
          </a:prstGeom>
          <a:ln w="16510">
            <a:solidFill>
              <a:srgbClr val="64748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48640" y="644652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Loss  =  CE(type)  +  MSE(x,y) · 𝟙[click]  +  0.5 · CE(dir) · 𝟙[scroll]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ACT-large — parameter accounting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Encoders frozen → all training-time compute goes into a ~8 M-parameter head.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691640"/>
            <a:ext cx="6766560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764792"/>
            <a:ext cx="6766560" cy="459028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20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A580C"/>
                </a:solidFill>
                <a:latin typeface="Calibri"/>
              </a:rPr>
              <a:t>TRAINABLE HEAD  (the ~8 M params we actually optimize)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86000"/>
            <a:ext cx="201168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Layer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2286000"/>
            <a:ext cx="128016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2286000"/>
            <a:ext cx="169164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Out / dim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2286000"/>
            <a:ext cx="150876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Params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606040"/>
            <a:ext cx="201168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vproj  Linear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34640" y="2606040"/>
            <a:ext cx="128016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768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0" y="2606040"/>
            <a:ext cx="169164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384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06440" y="2606040"/>
            <a:ext cx="150876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≈ 295 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926080"/>
            <a:ext cx="201168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iproj  Linear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2926080"/>
            <a:ext cx="128016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384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2926080"/>
            <a:ext cx="169164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384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2926080"/>
            <a:ext cx="150876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≈ 148 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246120"/>
            <a:ext cx="201168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pproj  Linear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34640" y="3246120"/>
            <a:ext cx="128016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384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0" y="3246120"/>
            <a:ext cx="169164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384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3246120"/>
            <a:ext cx="150876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≈ 148 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566160"/>
            <a:ext cx="201168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spatial_pos  Param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34640" y="3566160"/>
            <a:ext cx="128016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256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0" y="3566160"/>
            <a:ext cx="169164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384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3566160"/>
            <a:ext cx="150876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≈ 98 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886200"/>
            <a:ext cx="201168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Encoder × 4 layers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834640" y="3886200"/>
            <a:ext cx="128016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D=384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800" y="3886200"/>
            <a:ext cx="169164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FFN=768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06440" y="3886200"/>
            <a:ext cx="150876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≈ 4.8 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4206240"/>
            <a:ext cx="201168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Decoder × 2 layers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34640" y="4206240"/>
            <a:ext cx="128016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D=384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0" y="4206240"/>
            <a:ext cx="169164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FFN=768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06440" y="4206240"/>
            <a:ext cx="150876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≈ 2.4 M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4526280"/>
            <a:ext cx="201168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action_query  Param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34640" y="4526280"/>
            <a:ext cx="128016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800" y="4526280"/>
            <a:ext cx="169164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384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06440" y="4526280"/>
            <a:ext cx="150876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&lt; 1 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4846320"/>
            <a:ext cx="201168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type_head  MLP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834640" y="4846320"/>
            <a:ext cx="128016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384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0" y="4846320"/>
            <a:ext cx="169164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9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806440" y="4846320"/>
            <a:ext cx="150876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≈ 151 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5166360"/>
            <a:ext cx="201168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xy_head  MLP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34640" y="5166360"/>
            <a:ext cx="128016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384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0" y="5166360"/>
            <a:ext cx="169164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806440" y="5166360"/>
            <a:ext cx="1508760" cy="32004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≈ 149 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22960" y="5486400"/>
            <a:ext cx="201168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dir_head  MLP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834640" y="5486400"/>
            <a:ext cx="128016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384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0" y="5486400"/>
            <a:ext cx="169164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4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806440" y="5486400"/>
            <a:ext cx="1508760" cy="320040"/>
          </a:xfrm>
          <a:prstGeom prst="roundRect">
            <a:avLst>
              <a:gd name="adj" fmla="val 0"/>
            </a:avLst>
          </a:prstGeom>
          <a:solidFill>
            <a:srgbClr val="F8FAFC"/>
          </a:solidFill>
          <a:ln w="63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34155"/>
                </a:solidFill>
                <a:latin typeface="Calibri"/>
              </a:rPr>
              <a:t>≈ 149 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2960" y="5806440"/>
            <a:ext cx="2011680" cy="320040"/>
          </a:xfrm>
          <a:prstGeom prst="roundRect">
            <a:avLst>
              <a:gd name="adj" fmla="val 0"/>
            </a:avLst>
          </a:prstGeom>
          <a:solidFill>
            <a:srgbClr val="DCFCE7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TOTAL TRAINABLE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834640" y="5806440"/>
            <a:ext cx="4480560" cy="320040"/>
          </a:xfrm>
          <a:prstGeom prst="roundRect">
            <a:avLst>
              <a:gd name="adj" fmla="val 0"/>
            </a:avLst>
          </a:prstGeom>
          <a:solidFill>
            <a:srgbClr val="DCFCE7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≈ 8.34 M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589520" y="1691640"/>
            <a:ext cx="405353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589520" y="1764792"/>
            <a:ext cx="4053535" cy="192024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863840" y="1874520"/>
            <a:ext cx="3504895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FROZEN ENCODERS  (no gradients)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2194560"/>
            <a:ext cx="3504895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DinoV2-base (vision)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532888"/>
            <a:ext cx="3504895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≈ 86.6 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2880360"/>
            <a:ext cx="3504895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Calibri"/>
              </a:rPr>
              <a:t>MiniLM-L6 v2  (text × 2)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3200400"/>
            <a:ext cx="3504895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≈ 22.7 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0" y="3886200"/>
            <a:ext cx="4053535" cy="73152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589520" y="3959352"/>
            <a:ext cx="4053535" cy="2514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863840" y="4069080"/>
            <a:ext cx="3504895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D28D9"/>
                </a:solidFill>
                <a:latin typeface="Calibri"/>
              </a:rPr>
              <a:t>WHY THIS DECOMPOSITION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863840" y="4389120"/>
            <a:ext cx="16459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·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0" y="4370832"/>
            <a:ext cx="3322015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Frozen encoders → features cached ONCE → 100+ epochs cost minutes.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0" y="4846320"/>
            <a:ext cx="16459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·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046720" y="4828032"/>
            <a:ext cx="3322015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Only 8 M trainable params learn from 5K demos — well-conditioned scale.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863840" y="5303520"/>
            <a:ext cx="16459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·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46720" y="5285232"/>
            <a:ext cx="3322015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Encoder pretraining transfers visual + linguistic priors for free.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3840" y="5760720"/>
            <a:ext cx="16459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6D28D9"/>
                </a:solidFill>
                <a:latin typeface="Calibri"/>
              </a:rPr>
              <a:t>·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046720" y="5742432"/>
            <a:ext cx="3322015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Same recipe as the car-ACT: tiny task-specific head atop fixed features.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8.3 M trainable params on 4,756 train steps  ≈  570 examples / param  —  well above the rule-of-thumb floor of 10.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ACT-large training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Behavioral cloning over (screenshot, instruction, prev_actions) → action, with class-balancing tricks.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548640" y="1691640"/>
            <a:ext cx="3514344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TRAIN</a:t>
            </a:r>
          </a:p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4,756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steps · 845 episodes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from 6 of 76 train shards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7304" y="1691640"/>
            <a:ext cx="3514344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VAL</a:t>
            </a:r>
          </a:p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1,238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steps · 210 episodes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held out from train shards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5968" y="1691640"/>
            <a:ext cx="3514344" cy="96012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TEST</a:t>
            </a:r>
          </a:p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916</a:t>
            </a:r>
          </a:p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steps · 175 episodes</a:t>
            </a:r>
          </a:p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untouched test shard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Stratified by EPISODE_ID, not by step — no episode leaks across splits.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154680"/>
            <a:ext cx="6766560" cy="73152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227832"/>
            <a:ext cx="6766560" cy="262432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37560"/>
            <a:ext cx="62179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EA580C"/>
                </a:solidFill>
                <a:latin typeface="Calibri"/>
              </a:rPr>
              <a:t>OPTIMIZATION RECIPE  (winning config c5)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749040"/>
            <a:ext cx="16459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A580C"/>
                </a:solidFill>
                <a:latin typeface="Calibri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730752"/>
            <a:ext cx="603504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Sampler: WeightedRandomSampler (class-balanced minibatches)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41648"/>
            <a:ext cx="16459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A580C"/>
                </a:solidFill>
                <a:latin typeface="Calibri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23360"/>
            <a:ext cx="603504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Loss: focal cross-entropy on action_type (γ =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34256"/>
            <a:ext cx="16459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A580C"/>
                </a:solidFill>
                <a:latin typeface="Calibri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315968"/>
            <a:ext cx="603504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+ MSE on (x, y), masked to click / long-press steps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626864"/>
            <a:ext cx="16459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A580C"/>
                </a:solidFill>
                <a:latin typeface="Calibri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608576"/>
            <a:ext cx="603504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+ 0.5 · CE on scroll direction, masked to scroll steps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919472"/>
            <a:ext cx="16459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A580C"/>
                </a:solidFill>
                <a:latin typeface="Calibri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901184"/>
            <a:ext cx="603504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Optimizer: AdamW · lr = 5e-4 · cosine decay · weight decay 1e-4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212080"/>
            <a:ext cx="16459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A580C"/>
                </a:solidFill>
                <a:latin typeface="Calibri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193792"/>
            <a:ext cx="603504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Batch 64 · dropout 0.1 · gradient clip 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504688"/>
            <a:ext cx="16459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EA580C"/>
                </a:solidFill>
                <a:latin typeface="Calibri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486400"/>
            <a:ext cx="6035040" cy="32004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Calibri"/>
              </a:rPr>
              <a:t>Up to 120 epochs · early-stop on val macroF1 (patience 25)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0" y="3154680"/>
            <a:ext cx="4053535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589520" y="3227832"/>
            <a:ext cx="4053535" cy="2624328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337560"/>
            <a:ext cx="3504895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WHY CLASS BALANCING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7033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click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0" y="3739896"/>
            <a:ext cx="21332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323015" y="3703320"/>
            <a:ext cx="73152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Calibri"/>
              </a:rPr>
              <a:t>2,516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9319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3968496"/>
            <a:ext cx="622352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12072" y="3931920"/>
            <a:ext cx="73152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Calibri"/>
              </a:rPr>
              <a:t>734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63840" y="41605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scroll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0" y="4197096"/>
            <a:ext cx="380703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70423" y="4160520"/>
            <a:ext cx="73152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Calibri"/>
              </a:rPr>
              <a:t>449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63840" y="43891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input_text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0" y="4425696"/>
            <a:ext cx="266237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55957" y="4389120"/>
            <a:ext cx="73152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Calibri"/>
              </a:rPr>
              <a:t>314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46177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open_app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4000" y="4654296"/>
            <a:ext cx="25097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40695" y="4617720"/>
            <a:ext cx="73152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Calibri"/>
              </a:rPr>
              <a:t>296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0" y="48463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wait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0" y="4882896"/>
            <a:ext cx="243344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33064" y="4846320"/>
            <a:ext cx="73152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Calibri"/>
              </a:rPr>
              <a:t>287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63840" y="50749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navigate_back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5111496"/>
            <a:ext cx="123792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13512" y="5074920"/>
            <a:ext cx="73152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Calibri"/>
              </a:rPr>
              <a:t>146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53035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long_press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44000" y="5340096"/>
            <a:ext cx="45720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35440" y="5303520"/>
            <a:ext cx="73152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Calibri"/>
              </a:rPr>
              <a:t>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63840" y="5532120"/>
            <a:ext cx="128016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334155"/>
                </a:solidFill>
                <a:latin typeface="Calibri"/>
              </a:rPr>
              <a:t>navigate_home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144000" y="5568696"/>
            <a:ext cx="45720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5532120"/>
            <a:ext cx="73152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0F172A"/>
                </a:solidFill>
                <a:latin typeface="Calibri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9224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Calibri"/>
              </a:rPr>
              <a:t>Frozen encoders → features cached ONCE → 100+ epochs of head-only training cost minutes, not hours.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Inference demo — episode 18212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Go to Kindle app &amp; open the book Siddhartha from the library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783080"/>
            <a:ext cx="5408676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20"/>
            <a:ext cx="5408676" cy="1325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042916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042916" cy="8686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action-type match:  1 / 4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inference time:  0.8 s  (0.19 s/step)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408676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1636" y="1874520"/>
            <a:ext cx="5408676" cy="1325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4516" y="1965960"/>
            <a:ext cx="5042916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2286000"/>
            <a:ext cx="5042916" cy="8686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action-type match:  1 / 4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inference time:  1.3 s  (0.32 s/step)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11091672" cy="3017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ACTION-TYPE SEQUENCE PER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886200"/>
            <a:ext cx="2338578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1698" y="3886200"/>
            <a:ext cx="2338578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0276" y="3886200"/>
            <a:ext cx="2338578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8854" y="3886200"/>
            <a:ext cx="2338578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114800"/>
            <a:ext cx="1371600" cy="655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39696" y="4160520"/>
            <a:ext cx="2265426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open_app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78274" y="4160520"/>
            <a:ext cx="2265426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navigate_b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6852" y="4160520"/>
            <a:ext cx="2265426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click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55430" y="4160520"/>
            <a:ext cx="2265426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status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907280"/>
            <a:ext cx="1371600" cy="655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139696" y="4953000"/>
            <a:ext cx="2265426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Calibri"/>
              </a:rPr>
              <a:t>click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78274" y="4953000"/>
            <a:ext cx="2265426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Calibri"/>
              </a:rPr>
              <a:t>click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16852" y="4953000"/>
            <a:ext cx="2265426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click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55430" y="4953000"/>
            <a:ext cx="2265426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Calibri"/>
              </a:rPr>
              <a:t>scroll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699760"/>
            <a:ext cx="1371600" cy="655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39696" y="5745480"/>
            <a:ext cx="2265426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open_app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78274" y="5745480"/>
            <a:ext cx="2265426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Calibri"/>
              </a:rPr>
              <a:t>scroll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16852" y="5745480"/>
            <a:ext cx="2265426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Calibri"/>
              </a:rPr>
              <a:t>status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55430" y="5745480"/>
            <a:ext cx="2265426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Calibri"/>
              </a:rPr>
              <a:t>scroll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Episode 18212  ·  step 1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Go to Kindle app &amp; open the book Siddhartha from the library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p18212_step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2139696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91640"/>
            <a:ext cx="61264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764792"/>
            <a:ext cx="612648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856232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7607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open_app(Kindle)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651760"/>
            <a:ext cx="91440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6517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7432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761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7706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MISS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358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click(0.456, 0.152)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66160"/>
            <a:ext cx="91440" cy="777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5661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6576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36758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6850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9502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open_app()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Episode 18212  ·  step 2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Go to Kindle app &amp; open the book Siddhartha from the library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p18212_ste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2139696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91640"/>
            <a:ext cx="61264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764792"/>
            <a:ext cx="612648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856232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7607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navigate_back()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651760"/>
            <a:ext cx="91440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6517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7432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761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7706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MISS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358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click(0.505, 0.268)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66160"/>
            <a:ext cx="91440" cy="777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5661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6576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36758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6850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MISS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9502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scroll(down)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Episode 18212  ·  step 3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Go to Kindle app &amp; open the book Siddhartha from the library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p18212_ste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2139696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91640"/>
            <a:ext cx="61264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764792"/>
            <a:ext cx="612648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856232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7607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click(0.483, 0.303)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651760"/>
            <a:ext cx="91440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6517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7432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761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7706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358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click(0.423, 0.704)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66160"/>
            <a:ext cx="91440" cy="777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5661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6576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36758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6850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MISS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9502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status()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Episode 18212  ·  step 4 of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Go to Kindle app &amp; open the book Siddhartha from the library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p18212_ste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2139696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91640"/>
            <a:ext cx="61264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764792"/>
            <a:ext cx="612648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856232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7607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status()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651760"/>
            <a:ext cx="91440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6517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7432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761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7706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MISS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358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scroll(down)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66160"/>
            <a:ext cx="91440" cy="777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5661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6576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36758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6850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MISS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9502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scroll(down)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Inference demo — episode 19349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I want to purchase a striped shirt for myself for the upcoming office party. Look for a striped formal shirt in the M&amp;S app.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48640" y="1783080"/>
            <a:ext cx="5408676" cy="914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48640" y="1874520"/>
            <a:ext cx="5408676" cy="1325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65960"/>
            <a:ext cx="5042916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5042916" cy="8686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action-type match:  5 / 7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inference time:  0.5 s  (0.07 s/step)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1636" y="1783080"/>
            <a:ext cx="5408676" cy="914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31636" y="1874520"/>
            <a:ext cx="5408676" cy="132588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4516" y="1965960"/>
            <a:ext cx="5042916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2286000"/>
            <a:ext cx="5042916" cy="8686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action-type match:  5 / 7</a:t>
            </a:r>
          </a:p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Calibri"/>
              </a:rPr>
              <a:t>inference time:  1.0 s  (0.14 s/step)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520440"/>
            <a:ext cx="11091672" cy="30175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611880"/>
            <a:ext cx="105156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ACTION-TYPE SEQUENCE PER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3886200"/>
            <a:ext cx="133633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39450" y="3886200"/>
            <a:ext cx="133633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5780" y="3886200"/>
            <a:ext cx="133633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12110" y="3886200"/>
            <a:ext cx="133633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48441" y="3886200"/>
            <a:ext cx="133633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84771" y="3886200"/>
            <a:ext cx="133633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21101" y="3886200"/>
            <a:ext cx="1336330" cy="22860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t=6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114800"/>
            <a:ext cx="1371600" cy="655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9696" y="416052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open_app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76026" y="416052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wait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12356" y="416052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click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48686" y="416052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input_text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85017" y="416052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wait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1347" y="416052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scroll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57677" y="416052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status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907280"/>
            <a:ext cx="1371600" cy="655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39696" y="495300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open_app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76026" y="495300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wait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12356" y="495300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Calibri"/>
              </a:rPr>
              <a:t>wait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8686" y="495300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input_text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485017" y="495300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wait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21347" y="495300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Calibri"/>
              </a:rPr>
              <a:t>click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157677" y="495300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status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699760"/>
            <a:ext cx="1371600" cy="655320"/>
          </a:xfrm>
          <a:prstGeom prst="rect">
            <a:avLst/>
          </a:prstGeom>
          <a:noFill/>
        </p:spPr>
        <p:txBody>
          <a:bodyPr wrap="square" lIns="45720" rIns="4572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39696" y="574548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open_app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476026" y="574548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wait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812356" y="574548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Calibri"/>
              </a:rPr>
              <a:t>wait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48686" y="574548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input_text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85017" y="574548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wait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821347" y="574548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59669"/>
                </a:solidFill>
                <a:latin typeface="Calibri"/>
              </a:rPr>
              <a:t>scroll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57677" y="5745480"/>
            <a:ext cx="1263178" cy="56388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63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 bIns="91440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B91C1C"/>
                </a:solidFill>
                <a:latin typeface="Calibri"/>
              </a:rPr>
              <a:t>scroll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Episode 19349  ·  step 1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I want to purchase a striped shirt for myself for the upcoming office party. Look for a striped formal shirt in the M&amp;S app.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p19349_step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2139696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91640"/>
            <a:ext cx="61264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764792"/>
            <a:ext cx="612648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856232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7607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open_app(M&amp;S India)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651760"/>
            <a:ext cx="91440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6517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7432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761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7706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358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open_app()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66160"/>
            <a:ext cx="91440" cy="777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5661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6576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36758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6850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9502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open_app()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Episode 19349  ·  step 2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I want to purchase a striped shirt for myself for the upcoming office party. Look for a striped formal shirt in the M&amp;S app.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p19349_ste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2139696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91640"/>
            <a:ext cx="61264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764792"/>
            <a:ext cx="612648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856232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7607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wait()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651760"/>
            <a:ext cx="91440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6517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7432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761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7706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358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wait()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66160"/>
            <a:ext cx="91440" cy="777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5661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6576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36758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6850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9502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wait()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Episode 19349  ·  step 3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I want to purchase a striped shirt for myself for the upcoming office party. Look for a striped formal shirt in the M&amp;S app.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p19349_ste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2139696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91640"/>
            <a:ext cx="61264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764792"/>
            <a:ext cx="612648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856232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7607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click(0.546, 0.077)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651760"/>
            <a:ext cx="91440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6517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7432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761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7706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MISS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358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wait()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66160"/>
            <a:ext cx="91440" cy="777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5661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6576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36758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6850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MISS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9502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wait()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Episode 19349  ·  step 4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I want to purchase a striped shirt for myself for the upcoming office party. Look for a striped formal shirt in the M&amp;S app.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p19349_ste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2139696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91640"/>
            <a:ext cx="61264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764792"/>
            <a:ext cx="612648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856232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7607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input_text("")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651760"/>
            <a:ext cx="91440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6517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7432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761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7706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358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input_text()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66160"/>
            <a:ext cx="91440" cy="777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5661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6576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36758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6850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9502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input_text()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Episode 19349  ·  step 5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I want to purchase a striped shirt for myself for the upcoming office party. Look for a striped formal shirt in the M&amp;S app.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p19349_ste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2139696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91640"/>
            <a:ext cx="61264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764792"/>
            <a:ext cx="612648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856232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7607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wait()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651760"/>
            <a:ext cx="91440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6517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7432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761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7706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358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wait()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66160"/>
            <a:ext cx="91440" cy="777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5661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6576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36758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6850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9502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wait()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Episode 19349  ·  step 6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I want to purchase a striped shirt for myself for the upcoming office party. Look for a striped formal shirt in the M&amp;S app.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p19349_ste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2139696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91640"/>
            <a:ext cx="61264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764792"/>
            <a:ext cx="612648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856232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7607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scroll(down)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651760"/>
            <a:ext cx="91440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6517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7432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761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7706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MISS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358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click(0.362, 0.210)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66160"/>
            <a:ext cx="91440" cy="777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5661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6576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36758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6850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9502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scroll(down)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91672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64748B"/>
                </a:solidFill>
                <a:latin typeface="Calibri"/>
              </a:rPr>
              <a:t>INTERNAL  ·  SOAR TEAM BRIEFING  ·  KNOWLEDGE SHARE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6928"/>
            <a:ext cx="11091672" cy="5029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F172A"/>
                </a:solidFill>
                <a:latin typeface="Calibri"/>
              </a:rPr>
              <a:t>Episode 19349  ·  step 7 of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91672" cy="292608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Calibri"/>
              </a:rPr>
              <a:t>I want to purchase a striped shirt for myself for the upcoming office party. Look for a striped formal shirt in the M&amp;S app.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417320"/>
            <a:ext cx="11094415" cy="0"/>
          </a:xfrm>
          <a:prstGeom prst="line">
            <a:avLst/>
          </a:prstGeom>
          <a:ln w="635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ep19349_ste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2139696" cy="47548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577840" y="1691640"/>
            <a:ext cx="612648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577840" y="1764792"/>
            <a:ext cx="6126480" cy="77724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0" y="1856232"/>
            <a:ext cx="576072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Calibri"/>
              </a:rPr>
              <a:t>GROUND TRUTH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2103120"/>
            <a:ext cx="5760720" cy="41148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F172A"/>
                </a:solidFill>
                <a:latin typeface="Calibri"/>
              </a:rPr>
              <a:t>status()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2651760"/>
            <a:ext cx="91440" cy="7772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669280" y="26517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0" y="27432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Calibri"/>
              </a:rPr>
              <a:t>ACT-SMALL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0" y="27614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20" y="27706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358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status()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77840" y="3566160"/>
            <a:ext cx="91440" cy="77724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69280" y="3566160"/>
            <a:ext cx="6035040" cy="7772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3657600"/>
            <a:ext cx="2286000" cy="27432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EA580C"/>
                </a:solidFill>
                <a:latin typeface="Calibri"/>
              </a:rPr>
              <a:t>ACT-LARGE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32720" y="3675888"/>
            <a:ext cx="118872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3685032"/>
            <a:ext cx="1188720" cy="256032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TYPE MISS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950208"/>
            <a:ext cx="5577840" cy="365760"/>
          </a:xfrm>
          <a:prstGeom prst="rect">
            <a:avLst/>
          </a:prstGeom>
          <a:noFill/>
        </p:spPr>
        <p:txBody>
          <a:bodyPr wrap="square" lIns="45720" rIns="4572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Calibri"/>
              </a:rPr>
              <a:t>scroll(down)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